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Segoe UI"/>
              </a:defRPr>
            </a:pPr>
            <a:r>
              <a:t>CENTRAL GROUP  |  RIS ENDPOINT SUPPORT</a:t>
            </a:r>
          </a:p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EIA Q4 Performance &amp; Compliance Report</a:t>
            </a:r>
          </a:p>
          <a:p>
            <a:pPr>
              <a:defRPr sz="1600">
                <a:solidFill>
                  <a:srgbClr val="CBD5E1"/>
                </a:solidFill>
                <a:latin typeface="Segoe UI"/>
              </a:defRPr>
            </a:pPr>
            <a:r>
              <a:t>รายงานสรุปความคืบหน้าการตรวจสอบและยกระดับความมั่นคงปลอดภัยอุปกรณ์ลูกข่าย ประจำไตรมาสที่ 4/2026</a:t>
            </a:r>
          </a:p>
          <a:p>
            <a:br/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ข้อมูล ณ วันที่ 26 ตุลาคม 2026  |  Final Deadline: 25 พฤศจิกายน 2026 (เหลือเวลา 30 วัน)</a:t>
            </a:r>
            <a:br/>
            <a:r>
              <a:t>Scope: 5,092 เครื่อง  |  Remediated: 361 เครื่อง (7.09%)  |  Pending: 4,731 เครื่อง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EXECUTIVE SUMMARY &amp; HERO KPIS  |  ความคืบหน้า EIA Q4 อยู่ที่ 7.09% โดยมีอุปกรณ์รอแก้ไข 4,731 เครื่องก่อนครบกำหนด 25 พ.ย.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สรุปสถิติสำคัญประจำไตรมาสเปรียบเทียบกับเกณฑ์ความปลอดภัย EIA Standards (เกณฑ์ผ่าน &gt;= 85% PASS)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25146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514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73352"/>
            <a:ext cx="214884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2563EB"/>
                </a:solidFill>
                <a:latin typeface="Segoe UI"/>
              </a:defRPr>
            </a:pPr>
            <a:r>
              <a:t>5,092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Total Baseline Scope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เป้าหมายขอบเขตทั้งหมด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08760"/>
            <a:ext cx="25146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508760"/>
            <a:ext cx="2514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73352"/>
            <a:ext cx="214884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361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Passed / Remediated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ผ่านเกณฑ์แล้ว (Status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5146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214884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43F5E"/>
                </a:solidFill>
                <a:latin typeface="Segoe UI"/>
              </a:defRPr>
            </a:pPr>
            <a:r>
              <a:t>4,731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Pending / Action Req.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รอดำเนินการ (Status 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508760"/>
            <a:ext cx="26060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508760"/>
            <a:ext cx="26060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673352"/>
            <a:ext cx="2240280" cy="1344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Segoe UI"/>
              </a:defRPr>
            </a:pPr>
            <a:r>
              <a:t>30 วัน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Deadline Countdown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ถึงวันสิ้นสุด 25 พ.ย.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52120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29000"/>
            <a:ext cx="48463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📏 สถานะคะแนนตามเกณฑ์มาตรฐาน EIA (Audit Governance)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Overall Progress (Weighted Average): 7.09% (🔴 Critical) คำนวณจากยอดรวมเครื่องที่ผ่านเกณฑ์จริง 361 จาก 5,092 เครื่อง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Compliance Score (Unweighted Average): 16.97% (🔴 Critical) คำนวณเฉลี่ยความสำเร็จเท่ากันทั้ง 9 หมวดหมู่งาน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เกณฑ์การผ่าน (PASS Threshold): กำหนดไว้ที่ &gt;= 85% ส่งผลให้ปัจจุบันทั้ง 9 หัวข้อยังอยู่ในสถานะ IN PROGRESS (FAIL)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หัวข้อที่มีความคืบหน้าสูงสุด: Topic 8 (Document Request) อยู่ที่ 60.00% (🟡 Warning) และ Topic 7 (Admin Rights) อยู่ที่ 26.58%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52120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429000"/>
            <a:ext cx="48463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🔍 ข้อค้นพบสำคัญเชิงปฏิบัติการ (Operational Takeaways)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กลุ่ม Heavy-Hitters แบกรับงาน 93.4%: งานกว่า 4,757 เครื่อง กระจุกตัวในหัวข้อ OS, Admin, Firewall และ Restart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ทีม Branch แบกรับสัดส่วน 75.7%: เครื่องสาขาหน้าร้าน 3,855 เครื่อง ส่วนใหญ่เป็นเครื่องแคชเชียร์ POS/SCO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ทีม DC นำอันดับ 1 ใน Podium: สำเร็จ 36.40% โดยเฉพาะการปลดสิทธิ์ Local Admin และเคลียร์ข้อมูล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จุดคอขวดหลัก: การอัปเดตเวอร์ชัน Windows 11 (Topic 2) ยังค้าง 3,049 เครื่อง ต้องรอ User กด Reboot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DATA INTEGRITY &amp; 3-WAY AUDIT  |  การตรวจสอบความถูกต้องของข้อมูล 3 ฝ่าย ยืนยันความสอดคล้องตรงกัน 100%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เปรียบเทียบข้อมูลระหว่างไฟล์ Excel ใน OneDrive Q4, แดชบอร์ดส่วนบน และตาราง BU Matrix ด้านล่าง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73352"/>
            <a:ext cx="301752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2563EB"/>
                </a:solidFill>
                <a:latin typeface="Segoe UI"/>
              </a:defRPr>
            </a:pPr>
            <a:r>
              <a:t>5,092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Full Baseline Scope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Excel = Dashboard = BU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73352"/>
            <a:ext cx="301752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361 (7.09%)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Remediated Units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ยอดผ่านเกณฑ์ตรงกัน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73352"/>
            <a:ext cx="301752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0 Variance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Audit Discrepancy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ตรวจสอบรายเซลล์ถูกต้องสมบูรณ์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30632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มิติการตรวจสอบ (Audit Dimension)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1. Excel OneDrive Q4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2. ส่วนบน Dashboard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3. BU Matrix Table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ผลการตรวจสอบ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Grand Total Scope (เป้าหมายทั้งหมด)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5,092 เครื่อง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5,092 เครื่อง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5,092 เครื่อง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✅ MATCH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Passed Remediated (ผ่านเกณฑ์แล้ว)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361 เครื่อง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361 เครื่อง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361 เครื่อง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✅ MATCH 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Pending Remediated (รอดำเนินการ)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4,731 เครื่อง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4,731 เครื่อง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4,731 เครื่อง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✅ MATCH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 Topics Evaluation (ผลประเมิน 9 หัวข้อ)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ครบ 9 หัวข้อ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ครบ 9 หัวข้อ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ครบ 9 หัวข้อ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✅ MATCH 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Support Teams Fleet (DC / HO / Branch)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533 / 609 / 3,855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533 / 609 / 3,855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533 / 609 / 3,855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✅ MATCH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Unassigned / RIS No Service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95 เครื่อง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95 เครื่อง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95 เครื่อง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✅ MATCH 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BU Breakdown Alignment (ราย BU ทั้งระบบ)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100%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100%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100%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✅ MATCH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HEAVY-HITTERS DEEP DIVE  |  ภาระงานกว่า 93.4% กระจุกตัวอยู่ใน 4 หมวดหลัก โดย Windows 11 OS Update เป็นตัวแปรชี้ขาด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การวิเคราะห์ 4 หมวดหมู่ที่มีจำนวนเครื่องสูงสุด ซึ่งส่งผลโดยตรงต่อคะแนน Overall Progress ของโครงการ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2: Windows 11 OS Update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3,152 เครื่อง (61.9%)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สำเร็จแล้ว: 103 เครื่อง (3.3%)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3,049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ตัวแปรหลักที่มีน้ำหนักสูงสุดในโครงการ อุปกรณ์ดาวน์โหลดแพตช์แล้วแต่รอผู้ใช้งาน Restart เครื่องเพื่อจบกระบวนการ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50876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7: Privileged User (Local Admin)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711 เครื่อง (14.0%)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สำเร็จแล้ว: 189 เครื่อง (26.6%)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522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ดำเนินการถอดสิทธิ์ผ่าน KACE Script สำเร็จต่อเนื่อง ส่วนที่เหลือเป็นโปรแกรมเฉพาะทางหน้าร้าน (TP.Net / BS Change)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5: Built-in Firewall Enablement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567 เครื่อง (11.1%)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สำเร็จแล้ว: 10 เครื่อง (1.8%)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557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ส่วนใหญ่เป็นเครื่องสาขาที่ปิดการใช้งานนอกเวลา หรือพบ Bad Host Name / Ping Timeout อยู่ระหว่างกวาดล้างด้วย 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508760"/>
            <a:ext cx="25146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508760"/>
            <a:ext cx="2514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88552" y="1691640"/>
            <a:ext cx="218541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Topic 3: Require Restart (Pending Restart)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เป้าหมาย: 327 เครื่อง (6.4%)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สำเร็จแล้ว: 7 เครื่อง (2.1%)</a:t>
            </a:r>
          </a:p>
          <a:p>
            <a:pPr>
              <a:defRPr sz="950" b="1">
                <a:solidFill>
                  <a:srgbClr val="F43F5E"/>
                </a:solidFill>
              </a:defRPr>
            </a:pPr>
            <a:r>
              <a:t>คงเหลือ: 320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อุปกรณ์ที่ได้รับการ Patch แต่ยังไม่เสร็จสมบูรณ์เนื่องจากไม่มีการรีสตาร์ตระบบตามรอบการทำงาน รวมกลุ่ม Unassigned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49240"/>
            <a:ext cx="10698480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4068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💡 ข้อสรุปสำหรับผู้บริหาร (Strategic Key Insight):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หากสามารถผลักดันให้หัวข้อ 2 (Update OS: 3,152 เครื่อง) สำเร็จได้เกิน 85% จะส่งผลให้คะแนน Overall Progress ของโครงการกระโดดขึ้นจาก 7.09% เป็นกว่า 65% ทันที จึงควรกำหนดเป็นภารกิจลำดับที่ 1 ร่วมกับทีม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9-TOPIC COMPLIANCE MATRIX  |  ตารางสรุปผลการประเมิน 9 หมวดหมู่งานตามเกณฑ์มาตรฐาน EIA Dashboard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แสดงรายละเอียดเป้าหมาย, ยอดผ่านเกณฑ์, ยอดคงเหลือ, อัตราความสำเร็จ และการประเมินสถานะ 4 ระดับ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08760"/>
          <a:ext cx="108813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931920"/>
                <a:gridCol w="1097280"/>
                <a:gridCol w="1097280"/>
                <a:gridCol w="1097280"/>
                <a:gridCol w="1097280"/>
                <a:gridCol w="1005840"/>
                <a:gridCol w="731520"/>
              </a:tblGrid>
              <a:tr h="440574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Topic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ชื่อหัวข้อการตรวจสอบ (Topic Description)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เป้าหมาย (Total)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ผ่านแล้ว (Passed)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คงเหลือ (Pending)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ความสำเร็จ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เกณฑ์สี EIA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สถานะ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Missing BU/Company/Location (IT Asset)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installed GLPI Agent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22.00%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W11 OS version not current (Update 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3,152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3,049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Require Restart (Pending Restart)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2.14%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Antivirus software not installed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Built-in firewall not enabled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1.76%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Device not joined to domain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Privileged User (Admin Rights)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189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26.58%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Document Request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59E0B"/>
                          </a:solidFill>
                          <a:latin typeface="Segoe UI"/>
                        </a:defRPr>
                      </a:pPr>
                      <a:r>
                        <a:t>🟡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รวม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Grand Total Baseline Performance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5,092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361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4,731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7.09%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TEAM PERFORMANCE &amp; PODIUM RANKING  |  ทีม DC นำอันดับ 1 ด้วยความสำเร็จ 36.4% ขณะที่ทีม Branch แบกรับ 75.7% ของอุปกรณ์ทั่วประเทศ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เปรียบเทียบผลการดำเนินงานของ 3 หน่วยงานปฏิบัติการภายใต้ RIS Endpoint Support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33832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🥇 อันดับ 1: ทีม DC (ศูนย์กระจายสินค้า)</a:t>
            </a:r>
          </a:p>
          <a:p>
            <a:pPr>
              <a:defRPr sz="2800" b="1">
                <a:solidFill>
                  <a:srgbClr val="D97706"/>
                </a:solidFill>
              </a:defRPr>
            </a:pPr>
            <a:r>
              <a:t>36.40%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สำเร็จแล้ว: 194 / 533 เครื่อง</a:t>
            </a:r>
          </a:p>
          <a:p>
            <a:pPr>
              <a:defRPr sz="950">
                <a:solidFill>
                  <a:srgbClr val="F43F5E"/>
                </a:solidFill>
              </a:defRPr>
            </a:pPr>
            <a:r>
              <a:t>สถานะ: คงเหลือ 339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อัตราความสำเร็จสูงสุด ปลดสิทธิ์ Local Admin และจัดระเบียบอุปกรณ์คลังสินค้าสำเร็จรวดเร็ว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🥈 อันดับ 2: ทีม HO (สำนักงานใหญ่)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24.47%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สำเร็จแล้ว: 149 / 609 เครื่อง</a:t>
            </a:r>
          </a:p>
          <a:p>
            <a:pPr>
              <a:defRPr sz="950">
                <a:solidFill>
                  <a:srgbClr val="F43F5E"/>
                </a:solidFill>
              </a:defRPr>
            </a:pPr>
            <a:r>
              <a:t>สถานะ: คงเหลือ 460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ปิดงาน 100% ใน Topic 1.1 และ 1.2 กำลังผลักดันการ Reboot เครื่องเพื่อจบงาน Windows Update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83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338328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🥉 อันดับ 3: ทีม Branch (สาขา/หน้าร้าน)</a:t>
            </a:r>
          </a:p>
          <a:p>
            <a:pPr>
              <a:defRPr sz="2800" b="1">
                <a:solidFill>
                  <a:srgbClr val="F43F5E"/>
                </a:solidFill>
              </a:defRPr>
            </a:pPr>
            <a:r>
              <a:t>0.47%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สำเร็จแล้ว: 18 / 3,855 เครื่อง</a:t>
            </a:r>
          </a:p>
          <a:p>
            <a:pPr>
              <a:defRPr sz="950">
                <a:solidFill>
                  <a:srgbClr val="F43F5E"/>
                </a:solidFill>
              </a:defRPr>
            </a:pPr>
            <a:r>
              <a:t>สถานะ: คงเหลือ 3,837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แบกรับภาระงาน 75.7% ของทั้งระบบ (3,855 เครื่อง) ซึ่งส่วนใหญ่เป็นแคชเชียร์ POS รอรอบบำรุงรักษา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6984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10332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📊 การวิเคราะห์มิติการบริหารจัดการรายทีม (Operational Dynamics):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ความแตกต่างด้านสภาพแวดล้อม: ทีม HO และ DC สามารถควบคุมเครื่องและรันคำสั่งแก้ไขผ่านเครือข่าย LAN ได้ตลอดเวลา ต่างจากทีม Branch ที่มีสาขากระจายทั่วประเทศ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เครื่องหน้าร้าน POS &amp; แคชเชียร์: มีรอบเวลาทำงานจำกัด ไม่สามารถสั่ง Restart ระหว่างเวลาเปิดห้างได้ ต้องทำหลังปิดสาขา (After Hours Maintenance)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กลยุทธ์ช่วยเหลือทีมสาขา: ทีมส่วนกลาง (HO) จะสนับสนุน Script การผลักดัน Windows Update และประสานงานผู้จัดการสาขาเปิดเครื่องตามรอบที่กำหนด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BUSINESS UNIT (BU) DISTRIBUTION  |  CDG และ CFR ถือครองอุปกรณ์กว่า 53.9% โดย CMG มีความก้าวหน้าสูงสุดที่ 16.8%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แจกแจงเป้าหมายและการกระจายตัวของอุปกรณ์ตามกลุ่มธุรกิจภายใต้ Central Group (Overall Scope: 5,092 Targets)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08760"/>
          <a:ext cx="7772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468880"/>
                <a:gridCol w="1005840"/>
                <a:gridCol w="914400"/>
                <a:gridCol w="914400"/>
                <a:gridCol w="1005840"/>
                <a:gridCol w="914400"/>
              </a:tblGrid>
              <a:tr h="440574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อันดับ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ชื่อ Business Unit (BU)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เป้าหมายรวม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ผ่านแล้ว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คงเหลือ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อัตราสำเร็จ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ระดับผลงาน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CDG (Central Department Store)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1,758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CFR (Central Food Retail / Tops)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3.65%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CMG (Central Marketing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PWB (Power Buy)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409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9.71%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OFM (OfficeMate)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199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CRP (Central Retail Corp)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SSP (SuperSports)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RIS (Retail Information Systems)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Unknown / Unassigned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17.97%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0" y="150876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23960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🎯 ข้อสังเกตราย BU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CDG &amp; CFR ถือครองกว่า 53.9%: รวมกัน 2,745 เครื่อง (CDG 1,758 + CFR 987) เป็นกลุ่มห้างสรรพสินค้าและท็อปส์ ซูเปอร์มาร์เก็ต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CMG ผลงานก้าวหน้าที่สุด: มีความคืบหน้าถึง 16.80% (สำเร็จ 87 เครื่อง) จากการจัดการสิทธิ์ Admin และเครื่องสำนักงาน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Top 4 BUs รวมกัน 73.0%: CDG, CFR, CMG และ PWB รวมกันถึง 3,716 เครื่อง เป็นพื้นที่ยุทธศาสตร์หลักในการปิดช่องโหว่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Unknown (128 เครื่อง): เครื่องที่รอปรับปรุงข้อมูลใน GLPI อยู่ระหว่างส่งมอบทีมบริการเพื่อเคลียร์ Topic 1.1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ROOT CAUSES &amp; STRUCTURAL INVARIANTS  |  ข้อจำกัดทางสถาปัตยกรรม 4 ด้านที่ส่งผลต่อความเร็วในการปิดงานของระบบหน้าร้าน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บทสรุปจากการสกัดคอลัมน์ Remark ในไฟล์ข้อมูล เพื่อให้ผู้บริหารเข้าใจสภาพความเป็นจริงเชิงเทคนิค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73152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1. สถาปัตยกรรม POS แคชเชียร์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เครื่อง POS และ Self-Checkout (SCO) เชื่อมต่อผ่าน VLAN สาขา ไม่สามารถ Join Domain ได้ และต้องใช้สิทธิ์ Local Admin สำหรับโปรแกรม TP.Net / BS Change / SOS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50876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2. อุปกรณ์รอเปลี่ยนทดแทน (Refresh)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เครื่อง Windows 7 เดิมไม่รองรับ SentinelOne AV ใหม่ และมีแผนจัดซื้อทดแทนตามรอบปีงบประมาณในโครงการ Project Replace POS (ชิดลม, ปิ่นเกล้า, บางนา)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73152" cy="21945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3. ความพร้อมด้านเครือข่ายสาขา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พบ Bad Host Name / Ping Timeout เนื่องจากเครื่องสาขาปิดใช้งานนอกเวลาเปิดห้าง หรือเป็นเครื่องสำรอง (Spare) ที่เปิดเฉพาะกะฉุกเฉิน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148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4. สิทธิ์ที่ได้รับการอนุมัติทางการ</a:t>
            </a:r>
          </a:p>
          <a:p>
            <a:br/>
            <a:pPr>
              <a:defRPr sz="950">
                <a:solidFill>
                  <a:srgbClr val="64748B"/>
                </a:solidFill>
              </a:defRPr>
            </a:pPr>
            <a:r>
              <a:t>สิทธิ์ Local Admin ของเครื่องผู้บริหารระดับสูง, เครื่องเฉพาะทาง Live สด TikTok Studio และเครื่องระบบบันทึกกล้อง CCTV ซึ่งมีเอกสารอนุมัติรับรอง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ROADMAP &amp; EXECUTIVE DECISION SUPPORT  |  แผนปฏิบัติการ 3 สัปดาห์เร่งรัดปิดจุดเสี่ยงสู่เป้าหมายก่อนครบกำหนด 25 พ.ย.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กรอบเวลาการดำเนินงานและการสนับสนุนเชิงนโยบายที่ต้องการจากผู้บริหาร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3383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Sprint 1 (27 ต.ค. - 5 พ.ย.)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Mass OS Update &amp; Reboot Campaign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ยิงสคริปต์แจ้งเตือน Pop-up ผู้ใช้งานสำนักงานใหญ่ (HO) กด Restart เครื่อง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ตั้งค่านโยบาย Windows Update อัตโนมัติหลังปิดสาขาสำหรับเครื่องหน้าร้าน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เป้าหมาย: ดัน Topic 2 (OS Update) ให้ผ่านเกณฑ์เกิน 50%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3383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Sprint 2 (6 พ.ย. - 15 พ.ย.)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Automated Admin &amp; Firewall Hardening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ถอดสิทธิ์ Local Admin อัตโนมัติผ่าน KACE Script สำหรับเครื่องที่ไม่มีใบคำขอ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รันคำสั่งเปิด Built-in Firewall อัตโนมัติสำหรับเครื่องที่ต่อเน็ตเวิร์ก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เป้าหมาย: ดัน Topic 7 และ Topic 5 ให้ผ่านเกณฑ์เกิน 70%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Sprint 3 (16 พ.ย. - 25 พ.ย.)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Final Audit Trail &amp; Reconciliation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รวบรวมเอกสารข้อยกเว้นทางการ (POS/SCO, CCTV, ผู้บริหาร) เข้าระบบ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ประสานงาน Internal Audit ตรวจสอบความถูกต้องของหลักฐาน</a:t>
            </a:r>
          </a:p>
          <a:p>
            <a:br/>
            <a:pPr>
              <a:defRPr sz="850">
                <a:solidFill>
                  <a:srgbClr val="64748B"/>
                </a:solidFill>
              </a:defRPr>
            </a:pPr>
            <a:r>
              <a:t>• ส่งมอบรายงาน EIA Q4 ฉบับสมบูรณ์ภายใน 25 พ.ย.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00600"/>
            <a:ext cx="10698480" cy="1600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332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🚨 ข้อเสนอแนะและการตัดสินใจที่ต้องการจากผู้บริหาร (Required Executive Decisions):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1. กำหนดช่วงเวลา Maintenance Window สาขา: ขออนุมัติเปิดระบบให้ทีมงานสั่งรีสตาร์ตเครื่องสาขานอกเวลาทำการ (22:00 - 06:00 น.)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2. บังคับใช้นโยบายถอดสิทธิ์ Local Admin อัตโนมัติ: มีผลบังคับใช้ 1 พ.ย. สำหรับผู้ใช้ทั่วไปที่ไม่มีเอกสารขออนุมัติอย่างเป็นทางการ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3. อนุมัติรับรองข้อยกเว้นสถาปัตยกรรม POS/SCO: รับรองเครื่องแคชเชียร์หน้าร้านที่ต้องแยก VLAN และจำเป็นต้องใช้โปรแกรมขายรุ่นเดิม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