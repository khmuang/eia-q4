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CENTRAL GROUP  |  RIS ENDPOINT SUPPORT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EIA Q4 Performance &amp; Compliance Report</a:t>
            </a:r>
          </a:p>
          <a:p>
            <a:pPr>
              <a:defRPr sz="1600">
                <a:solidFill>
                  <a:srgbClr val="CBD5E1"/>
                </a:solidFill>
                <a:latin typeface="Segoe UI"/>
              </a:defRPr>
            </a:pPr>
            <a:r>
              <a:t>รายงานสรุปความคืบหน้าการตรวจสอบและยกระดับความมั่นคงปลอดภัยอุปกรณ์ลูกข่าย ประจำไตรมาสที่ 4/2026</a:t>
            </a:r>
          </a:p>
          <a:p>
            <a:br/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ข้อมูล ณ วันที่ 26 ตุลาคม 2026  |  Final Deadline: 25 พฤศจิกายน 2026 (เหลือเวลา 30 วัน)</a:t>
            </a:r>
            <a:br/>
            <a:r>
              <a:t>Scope: 5,092 เครื่อง  |  Tracked: 4,997 เครื่อง  |  Remediated: 361 เครื่อง (7.22%)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EXECUTIVE SUMMARY &amp; HERO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ความคืบหน้า EIA Q4 อยู่ที่ 7.22% โดยมีอุปกรณ์รอแก้ไข 4,636 เครื่องก่อนครบกำหนด 25 พ.ย.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สรุปสถิติสำคัญประจำไตรมาสเปรียบเทียบกับเกณฑ์ความปลอดภัย EIA Standards (เกณฑ์ผ่าน &gt;= 85% PASS)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251460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21488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TOTAL BASELINE SCOPE</a:t>
            </a:r>
          </a:p>
          <a:p>
            <a:pPr>
              <a:defRPr sz="2800" b="1">
                <a:solidFill>
                  <a:srgbClr val="0284C7"/>
                </a:solidFill>
                <a:latin typeface="Segoe UI"/>
              </a:defRPr>
            </a:pPr>
            <a:r>
              <a:t>5,092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เป้าหมายขอบเขตทั้งหมด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50876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508760"/>
            <a:ext cx="2514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618488"/>
            <a:ext cx="21488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PASSED / REMEDIATED</a:t>
            </a:r>
          </a:p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361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ผ่านเกณฑ์แล้ว (Status 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0876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508760"/>
            <a:ext cx="25146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18488"/>
            <a:ext cx="21488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PENDING / ACTION REQ.</a:t>
            </a:r>
          </a:p>
          <a:p>
            <a:pPr>
              <a:defRPr sz="2800" b="1">
                <a:solidFill>
                  <a:srgbClr val="E11D48"/>
                </a:solidFill>
                <a:latin typeface="Segoe UI"/>
              </a:defRPr>
            </a:pPr>
            <a:r>
              <a:t>4,636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รอดำเนินการ (Status 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5087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508760"/>
            <a:ext cx="260604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618488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DEADLINE COUNTDOWN</a:t>
            </a:r>
          </a:p>
          <a:p>
            <a:pPr>
              <a:defRPr sz="2800" b="1">
                <a:solidFill>
                  <a:srgbClr val="D97706"/>
                </a:solidFill>
                <a:latin typeface="Segoe UI"/>
              </a:defRPr>
            </a:pPr>
            <a:r>
              <a:t>30 วัน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ถึงวันสิ้นสุด 25 พ.ย.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5212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📏 สถานะคะแนนตามเกณฑ์มาตรฐาน EIA (Audit Governance)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Overall Progress (Weighted Average): 7.22% (🔴 Critical) คำนวณจากยอดรวมเครื่องที่ผ่านเกณฑ์จริง 361 จาก 4,997 เครื่อง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Compliance Score (Unweighted Average): 17.07% (🔴 Critical) คำนวณเฉลี่ยความสำเร็จเท่ากันทั้ง 9 หมวดหมู่งาน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เกณฑ์การผ่าน (PASS Threshold): กำหนดไว้ที่ &gt;= 85% ส่งผลให้ปัจจุบันทั้ง 9 หัวข้อยังอยู่ในสถานะ IN PROGRESS (FAIL)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หัวข้อที่มีความคืบหน้าสูงสุด: Topic 8 (Document Request) อยู่ที่ 60.00% (🟡 Warning) และ Topic 7 (Admin Rights) อยู่ที่ 26.58%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5212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42900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🔍 ข้อค้นพบสำคัญเชิงปฏิบัติการ (Operational Takeaways)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กลุ่ม Heavy-Hitters แบกรับงาน 93.3%: งานกว่า 4,662 เครื่อง กระจุกตัวในหัวข้อ OS, Admin, Firewall และ Restart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ทีม Branch แบกรับสัดส่วน 77.1%: เครื่องสาขาหน้าร้าน 3,855 เครื่อง ส่วนใหญ่เป็นเครื่องแคชเชียร์ POS/SCO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ทีม DC นำอันดับ 1 ใน Podium: สำเร็จ 36.40% โดยเฉพาะการปลดสิทธิ์ Local Admin และเคลียร์ข้อมูล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จุดคอขวดหลัก: การอัปเดตเวอร์ชัน Windows 11 (Topic 2) ยังค้าง 3,049 เครื่อง ต้องรอ User กด Reboot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HEAVY-HITTERS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ภาระงานกว่า 93.3% กระจุกตัวอยู่ใน 4 หมวดหลัก โดย Windows 11 OS Update เป็นตัวแปรชี้ขาด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การวิเคราะห์ 4 หมวดหมู่ที่มีจำนวนเครื่องสูงสุด ซึ่งส่งผลโดยตรงต่อคะแนน Overall Progress ของโครงการ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514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251460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2185416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Topic 2: Windows 11 OS Update</a:t>
            </a:r>
          </a:p>
          <a:p>
            <a:pPr>
              <a:defRPr sz="950" b="1">
                <a:solidFill>
                  <a:srgbClr val="475569"/>
                </a:solidFill>
              </a:defRPr>
            </a:pPr>
            <a:r>
              <a:t>เป้าหมาย: 3,152 เครื่อง (63.1%)</a:t>
            </a:r>
          </a:p>
          <a:p>
            <a:pPr>
              <a:defRPr sz="950" b="1">
                <a:solidFill>
                  <a:srgbClr val="E11D48"/>
                </a:solidFill>
              </a:defRPr>
            </a:pPr>
            <a:r>
              <a:t>สำเร็จแล้ว: 103 เครื่อง (3.3%)</a:t>
            </a:r>
          </a:p>
          <a:p>
            <a:pPr>
              <a:defRPr sz="950">
                <a:solidFill>
                  <a:srgbClr val="E11D48"/>
                </a:solidFill>
              </a:defRPr>
            </a:pPr>
            <a:r>
              <a:t>คงเหลือ: 3,049 เครื่อง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ตัวแปรหลักที่มีน้ำหนักสูงสุดในโครงการ อุปกรณ์ดาวน์โหลดแพตช์แล้วแต่รอผู้ใช้งาน Restart เครื่องเพื่อจบกระบวนการ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508760"/>
            <a:ext cx="2514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508760"/>
            <a:ext cx="25146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691640"/>
            <a:ext cx="2185416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Topic 7: Privileged User (Local Admin)</a:t>
            </a:r>
          </a:p>
          <a:p>
            <a:pPr>
              <a:defRPr sz="950" b="1">
                <a:solidFill>
                  <a:srgbClr val="475569"/>
                </a:solidFill>
              </a:defRPr>
            </a:pPr>
            <a:r>
              <a:t>เป้าหมาย: 711 เครื่อง (14.2%)</a:t>
            </a:r>
          </a:p>
          <a:p>
            <a:pPr>
              <a:defRPr sz="950" b="1">
                <a:solidFill>
                  <a:srgbClr val="D97706"/>
                </a:solidFill>
              </a:defRPr>
            </a:pPr>
            <a:r>
              <a:t>สำเร็จแล้ว: 189 เครื่อง (26.6%)</a:t>
            </a:r>
          </a:p>
          <a:p>
            <a:pPr>
              <a:defRPr sz="950">
                <a:solidFill>
                  <a:srgbClr val="E11D48"/>
                </a:solidFill>
              </a:defRPr>
            </a:pPr>
            <a:r>
              <a:t>คงเหลือ: 522 เครื่อง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ดำเนินการถอดสิทธิ์ผ่าน KACE Script สำเร็จต่อเนื่อง ส่วนที่เหลือเป็นโปรแกรมเฉพาะทางหน้าร้าน (TP.Net / BS Change)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08760"/>
            <a:ext cx="2514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508760"/>
            <a:ext cx="251460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691640"/>
            <a:ext cx="2185416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Topic 5: Built-in Firewall Enablement</a:t>
            </a:r>
          </a:p>
          <a:p>
            <a:pPr>
              <a:defRPr sz="950" b="1">
                <a:solidFill>
                  <a:srgbClr val="475569"/>
                </a:solidFill>
              </a:defRPr>
            </a:pPr>
            <a:r>
              <a:t>เป้าหมาย: 567 เครื่อง (11.3%)</a:t>
            </a:r>
          </a:p>
          <a:p>
            <a:pPr>
              <a:defRPr sz="950" b="1">
                <a:solidFill>
                  <a:srgbClr val="E11D48"/>
                </a:solidFill>
              </a:defRPr>
            </a:pPr>
            <a:r>
              <a:t>สำเร็จแล้ว: 10 เครื่อง (1.8%)</a:t>
            </a:r>
          </a:p>
          <a:p>
            <a:pPr>
              <a:defRPr sz="950">
                <a:solidFill>
                  <a:srgbClr val="E11D48"/>
                </a:solidFill>
              </a:defRPr>
            </a:pPr>
            <a:r>
              <a:t>คงเหลือ: 557 เครื่อง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ส่วนใหญ่เป็นเครื่องสาขาที่ปิดการใช้งานนอกเวลา หรือพบ Bad Host Name / Ping Timeout อยู่ระหว่างกวาดล้างด้วย 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508760"/>
            <a:ext cx="2514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508760"/>
            <a:ext cx="251460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691640"/>
            <a:ext cx="2185416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Topic 3: Require Restart (Pending Restart)</a:t>
            </a:r>
          </a:p>
          <a:p>
            <a:pPr>
              <a:defRPr sz="950" b="1">
                <a:solidFill>
                  <a:srgbClr val="475569"/>
                </a:solidFill>
              </a:defRPr>
            </a:pPr>
            <a:r>
              <a:t>เป้าหมาย: 232 เครื่อง (4.6%)</a:t>
            </a:r>
          </a:p>
          <a:p>
            <a:pPr>
              <a:defRPr sz="950" b="1">
                <a:solidFill>
                  <a:srgbClr val="E11D48"/>
                </a:solidFill>
              </a:defRPr>
            </a:pPr>
            <a:r>
              <a:t>สำเร็จแล้ว: 7 เครื่อง (3.0%)</a:t>
            </a:r>
          </a:p>
          <a:p>
            <a:pPr>
              <a:defRPr sz="950">
                <a:solidFill>
                  <a:srgbClr val="E11D48"/>
                </a:solidFill>
              </a:defRPr>
            </a:pPr>
            <a:r>
              <a:t>คงเหลือ: 225 เครื่อง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อุปกรณ์ที่ได้รับการ Patch แต่ยังไม่เสร็จสมบูรณ์เนื่องจากไม่มีการรีสตาร์ตระบบตามรอบการทำงาน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1069848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t>💡 ข้อสรุปสำหรับผู้บริหาร (Strategic Key Insight):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หากสามารถผลักดันให้หัวข้อ 2 (Update OS: 3,152 เครื่อง) สำเร็จได้เกิน 85% จะส่งผลให้คะแนน Overall Progress ของโครงการกระโดดขึ้นจาก 7.22% เป็นกว่า 65% ทันที จึงควรกำหนดเป็นภารกิจลำดับที่ 1 ร่วมกับทีม Branch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9-TOPIC COMPLIANCE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ตารางสรุปผลการประเมิน 9 หมวดหมู่งานตามเกณฑ์มาตรฐาน EIA Dashboard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แสดงรายละเอียดเป้าหมาย, ยอดผ่านเกณฑ์, ยอดคงเหลือ, อัตราความสำเร็จ และการประเมินสถานะ 4 ระดับ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931920"/>
                <a:gridCol w="1097280"/>
                <a:gridCol w="1097280"/>
                <a:gridCol w="1097280"/>
                <a:gridCol w="1097280"/>
                <a:gridCol w="1005840"/>
                <a:gridCol w="731520"/>
              </a:tblGrid>
              <a:tr h="44057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Topic ID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ชื่อหัวข้อการตรวจสอบ (Topic Description)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เป้าหมาย (Total)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ผ่านแล้ว (Passed)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คงเหลือ (Pending)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ความสำเร็จ (%)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เกณฑ์สี EIA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สถานะ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Missing BU/Company/Location (IT Asset)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16.45%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Not installed GLPI Agent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22.00%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W11 OS version not current (Update 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3,152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3,049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3.27%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Require Restart (Pending Restart)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232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225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3.02%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Antivirus software not installed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3.16%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Built-in firewall not enabled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567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557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1.76%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Device not joined to domain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17.39%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Privileged User (Admin Rights)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711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522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26.58%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Document Request evidence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🟡 Warning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รวม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Grand Total Performance (Weighted)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4,997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361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4,636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7.22%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TEAM PERFORMANCE &amp; PODIUM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ทีม DC นำอันดับ 1 ด้วยความสำเร็จ 36.4% ขณะที่ทีม Branch แบกรับ 77.1% ของอุปกรณ์ทั่วประเทศ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เปรียบเทียบผลการดำเนินงานของ 3 หน่วยงานปฏิบัติการภายใต้ RIS Endpoint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3383280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🥇 อันดับ 1: ทีม DC (ศูนย์กระจายสินค้า)</a:t>
            </a:r>
          </a:p>
          <a:p>
            <a:pPr>
              <a:defRPr sz="3200" b="1">
                <a:solidFill>
                  <a:srgbClr val="EAB308"/>
                </a:solidFill>
              </a:defRPr>
            </a:pPr>
            <a:r>
              <a:t>36.40%</a:t>
            </a:r>
          </a:p>
          <a:p>
            <a:pPr>
              <a:defRPr sz="1000" b="1">
                <a:solidFill>
                  <a:srgbClr val="475569"/>
                </a:solidFill>
              </a:defRPr>
            </a:pPr>
            <a:r>
              <a:t>ผลงาน: 194 / 533 เครื่อง</a:t>
            </a:r>
          </a:p>
          <a:p>
            <a:pPr>
              <a:defRPr sz="950">
                <a:solidFill>
                  <a:srgbClr val="E11D48"/>
                </a:solidFill>
              </a:defRPr>
            </a:pPr>
            <a:r>
              <a:t>สถานะ: คงเหลือ 339 เครื่อง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อัตราความสำเร็จสูงสุด ปลดสิทธิ์ Local Admin และจัดระเบียบอุปกรณ์คลังสินค้าสำเร็จรวดเร็ว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338328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🥈 อันดับ 2: ทีม HO (สำนักงานใหญ่)</a:t>
            </a:r>
          </a:p>
          <a:p>
            <a:pPr>
              <a:defRPr sz="3200" b="1">
                <a:solidFill>
                  <a:srgbClr val="94A3B8"/>
                </a:solidFill>
              </a:defRPr>
            </a:pPr>
            <a:r>
              <a:t>24.47%</a:t>
            </a:r>
          </a:p>
          <a:p>
            <a:pPr>
              <a:defRPr sz="1000" b="1">
                <a:solidFill>
                  <a:srgbClr val="475569"/>
                </a:solidFill>
              </a:defRPr>
            </a:pPr>
            <a:r>
              <a:t>ผลงาน: 149 / 609 เครื่อง</a:t>
            </a:r>
          </a:p>
          <a:p>
            <a:pPr>
              <a:defRPr sz="950">
                <a:solidFill>
                  <a:srgbClr val="E11D48"/>
                </a:solidFill>
              </a:defRPr>
            </a:pPr>
            <a:r>
              <a:t>สถานะ: คงเหลือ 460 เครื่อง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คืบหน้าต่อเนื่อง ตอบสนองเร็ว รอผู้ใช้งานรีสตาร์ตเครื่องและผลักดัน OS Version Update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50876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08760"/>
            <a:ext cx="33832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🥉 อันดับ 3: ทีม Branch (สาขา/หน้าร้าน)</a:t>
            </a:r>
          </a:p>
          <a:p>
            <a:pPr>
              <a:defRPr sz="3200" b="1">
                <a:solidFill>
                  <a:srgbClr val="B45309"/>
                </a:solidFill>
              </a:defRPr>
            </a:pPr>
            <a:r>
              <a:t>0.47%</a:t>
            </a:r>
          </a:p>
          <a:p>
            <a:pPr>
              <a:defRPr sz="1000" b="1">
                <a:solidFill>
                  <a:srgbClr val="475569"/>
                </a:solidFill>
              </a:defRPr>
            </a:pPr>
            <a:r>
              <a:t>ผลงาน: 18 / 3,855 เครื่อง</a:t>
            </a:r>
          </a:p>
          <a:p>
            <a:pPr>
              <a:defRPr sz="950">
                <a:solidFill>
                  <a:srgbClr val="E11D48"/>
                </a:solidFill>
              </a:defRPr>
            </a:pPr>
            <a:r>
              <a:t>สถานะ: คงเหลือ 3,837 เครื่อง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แบกรับ 77.1% ของอุปกรณ์ทั้งระบบ ข้อจำกัดเครื่อง POS/แคชเชียร์หน้าร้านต้องทำนอกเวลาบริการ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10698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📊 การวิเคราะห์มิติการบริหารจัดการรายทีม (Operational Dynamics):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ความแตกต่างด้านสภาพแวดล้อม: ทีม HO และ DC สามารถควบคุมเครื่องและรันคำสั่งแก้ไขผ่านเครือข่าย LAN ได้ตลอดเวลา ต่างจากทีม Branch ที่มีสาขากระจายทั่วประเทศ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เครื่องหน้าร้าน POS &amp; แคชเชียร์: มีรอบเวลาทำงานจำกัด ไม่สามารถสั่ง Restart ระหว่างเวลาเปิดห้างได้ ต้องทำหลังปิดสาขา (After Hours Maintenance)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กลยุทธ์ช่วยเหลือทีมสาขา: ทีมส่วนกลาง (HO) จะสนับสนุน Script การผลักดัน Windows Update และประสานงานผู้จัดการสาขาเปิดเครื่องตามรอบที่กำหนด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BUSINESS UNIT (BU)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5 อันดับ BU สูงสุดถือครองอุปกรณ์กว่า 70% โดย CMG มีความคืบหน้าสูงสุดที่ 47.4%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แจกแจงเป้าหมายและการกระจายตัวของอุปกรณ์ตามกลุ่มธุรกิจภายใต้ Central Group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7772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468880"/>
                <a:gridCol w="1005840"/>
                <a:gridCol w="914400"/>
                <a:gridCol w="914400"/>
                <a:gridCol w="1005840"/>
                <a:gridCol w="914400"/>
              </a:tblGrid>
              <a:tr h="44057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อันดับ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ชื่อ Business Unit (BU)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เป้าหมายรวม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ผ่านแล้ว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คงเหลือ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อัตราสำเร็จ (%)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ระดับผลงาน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CFR (Central Food Retail)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6.54%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CDG (Central Department Store)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151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24.12%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Unknown / Unassigned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17.46%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CMG (Central Marketing Group)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47.42%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🟡 Warning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PWB (Power Buy)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37.50%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SSP (SuperSports)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15.25%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CRP (Central Retail Corp)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10.87%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RIS (Retail Information Systems)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13.79%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057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21.43%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B2S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4.76%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🔴 Critical</a:t>
                      </a:r>
                    </a:p>
                  </a:txBody>
                  <a:tcPr anchor="ctr"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686800" y="150876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645920"/>
            <a:ext cx="2468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🎯 ข้อสังเกตราย BU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CFR &amp; CDG ปริมาณสูงสุด: รวมกันกว่า 413 เครื่อง เป็นกลุ่มซูเปอร์มาร์เก็ตและห้างสรรพสินค้า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CMG ผลงานยอดเยี่ยม: มีความคืบหน้าถึง 47.42% ขยับเข้าสู่เกณฑ์สีเหลือง Warning แล้ว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Unknown (126 เครื่อง): เป็นเครื่องที่ข้อมูลในระบบ GLPI ไม่สมบูรณ์ ต้องเร่งเคลียร์ใน Topic 1.1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• กลุ่ม IT (RIS 29 เครื่อง): มีความพร้อมสูง สามารถปิดงาน Admin และ Patch ได้ทันที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ROOT CAUSES &amp; STRUCTURAL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ข้อจำกัดทางสถาปัตยกรรม 4 ด้านที่ส่งผลต่อความเร็วในการปิดงานของระบบหน้าร้าน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บทสรุปจากการสกัดคอลัมน์ Remark ในไฟล์ข้อมูล เพื่อให้ผู้บริหารเข้าใจสภาพความเป็นจริงเชิงเทคนิค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5212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2194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1. สถาปัตยกรรม POS แคชเชียร์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เครื่อง POS และ Self-Checkout (SCO) เชื่อมต่อผ่าน VLAN สาขา ไม่สามารถ Join Domain ได้ และต้องใช้สิทธิ์ Local Admin สำหรับโปรแกรม TP.Net / BS Change / 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5212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73152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2. อุปกรณ์รอเปลี่ยนทดแทน (Refresh)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เครื่อง Windows 7 เดิมไม่รองรับ SentinelOne AV ใหม่ และมีแผนจัดซื้อทดแทนตามรอบปีงบประมาณในโครงการ Project Replace POS (ชิดลม, ปิ่นเกล้า, บางนา)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212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73152" cy="21945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3. ความพร้อมด้านเครือข่ายสาขา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พบ Bad Host Name / Ping Timeout เนื่องจากเครื่องสาขาปิดใช้งานนอกเวลาเปิดห้าง หรือเป็นเครื่องสำรอง (Spare) ที่เปิดเฉพาะกะฉุกเฉิน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5212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73152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4. สิทธิ์ที่ได้รับการอนุมัติทางการ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สิทธิ์ Local Admin ของเครื่องผู้บริหารระดับสูง, เครื่องเฉพาะทาง Live สด TikTok Studio และเครื่องระบบบันทึกกล้อง CCTV ซึ่งมีเอกสารอนุมัติรับรอง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ROADMAP &amp; EXECUTIVE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แผนปฏิบัติการ 3 สัปดาห์เร่งรัดปิดจุดเสี่ยงสู่เป้าหมายก่อนครบกำหนด 25 พ.ย.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กรอบเวลาการดำเนินงานและการสนับสนุนเชิงนโยบายที่ต้องการจากผู้บริหาร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Sprint 1 (27 ต.ค. - 5 พ.ย.)</a:t>
            </a:r>
          </a:p>
          <a:p>
            <a:pPr>
              <a:defRPr sz="950" b="1">
                <a:solidFill>
                  <a:srgbClr val="0284C7"/>
                </a:solidFill>
              </a:defRPr>
            </a:pPr>
            <a:r>
              <a:t>Mass OS Update &amp; Reboot Campaign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• ยิงสคริปต์แจ้งเตือน Pop-up ผู้ใช้งานสำนักงานใหญ่ (HO) กด Restart เครื่อง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• ตั้งค่านโยบาย Windows Update อัตโนมัติหลังปิดสาขาสำหรับเครื่องหน้าร้าน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• เป้าหมาย: ดัน Topic 2 (OS Update) ให้ผ่านเกณฑ์เกิน 50%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Sprint 2 (6 พ.ย. - 15 พ.ย.)</a:t>
            </a:r>
          </a:p>
          <a:p>
            <a:pPr>
              <a:defRPr sz="950" b="1">
                <a:solidFill>
                  <a:srgbClr val="D97706"/>
                </a:solidFill>
              </a:defRPr>
            </a:pPr>
            <a:r>
              <a:t>Automated Admin &amp; Firewall Hardening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• ถอดสิทธิ์ Local Admin อัตโนมัติผ่าน KACE Script สำหรับเครื่องที่ไม่มีใบคำขอ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• รันคำสั่งเปิด Built-in Firewall อัตโนมัติสำหรับเครื่องที่ต่อเน็ตเวิร์ก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• เป้าหมาย: ดัน Topic 7 และ Topic 5 ให้ผ่านเกณฑ์เกิน 70%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50876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0876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Sprint 3 (16 พ.ย. - 25 พ.ย.)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Final Audit Trail &amp; Reconciliation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• รวบรวมเอกสารข้อยกเว้นทางการ (POS/SCO, CCTV, ผู้บริหาร) เข้าระบบ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• ประสานงาน Internal Audit ตรวจสอบความถูกต้องของหลักฐาน</a:t>
            </a:r>
          </a:p>
          <a:p>
            <a:br/>
            <a:pPr>
              <a:defRPr sz="850">
                <a:solidFill>
                  <a:srgbClr val="475569"/>
                </a:solidFill>
              </a:defRPr>
            </a:pPr>
            <a:r>
              <a:t>• ส่งมอบรายงาน EIA Q4 ฉบับสมบูรณ์ภายใน 25 พ.ย.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00600"/>
            <a:ext cx="10698480" cy="1600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🚨 ข้อเสนอแนะและการตัดสินใจที่ต้องการจากผู้บริหาร (Required Executive Decisions):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1. กำหนดช่วงเวลา Maintenance Window สาขา: ขออนุมัติเปิดระบบให้ทีมงานสั่งรีสตาร์ตเครื่องสาขานอกเวลาทำการ (22:00 - 06:00 น.)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2. บังคับใช้นโยบายถอดสิทธิ์ Local Admin อัตโนมัติ: มีผลบังคับใช้ 1 พ.ย. สำหรับผู้ใช้ทั่วไปที่ไม่มีเอกสารขออนุมัติอย่างเป็นทางการ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3. อนุมัติรับรองข้อยกเว้นสถาปัตยกรรม POS/SCO: รับรองเครื่องแคชเชียร์หน้าร้านที่ต้องแยก VLAN และจำเป็นต้องใช้โปรแกรมขายรุ่นเดิม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